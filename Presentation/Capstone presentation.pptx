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660"/>
  </p:normalViewPr>
  <p:slideViewPr>
    <p:cSldViewPr snapToGrid="0" snapToObjects="1">
      <p:cViewPr varScale="1">
        <p:scale>
          <a:sx n="80" d="100"/>
          <a:sy n="80" d="100"/>
        </p:scale>
        <p:origin x="1517"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09:28:55.825"/>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8:04:35.836"/>
    </inkml:context>
    <inkml:brush xml:id="br0">
      <inkml:brushProperty name="width" value="0.2" units="cm"/>
      <inkml:brushProperty name="height" value="0.2" units="cm"/>
    </inkml:brush>
  </inkml:definitions>
  <inkml:trace contextRef="#ctx0" brushRef="#br0">1 1 24575,'0'4'0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26440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68095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2080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31548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9008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52065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19676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82039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94759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14307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02879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41253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108075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02115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70976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30358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44657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58114900"/>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 id="2147483959" r:id="rId12"/>
    <p:sldLayoutId id="2147483960" r:id="rId13"/>
    <p:sldLayoutId id="2147483961" r:id="rId14"/>
    <p:sldLayoutId id="2147483962" r:id="rId15"/>
    <p:sldLayoutId id="2147483963" r:id="rId16"/>
    <p:sldLayoutId id="2147483964"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Banking Customer Behavior and Financial Performance Analysis</a:t>
            </a:r>
          </a:p>
        </p:txBody>
      </p:sp>
      <p:sp>
        <p:nvSpPr>
          <p:cNvPr id="3" name="Content Placeholder 2"/>
          <p:cNvSpPr>
            <a:spLocks noGrp="1"/>
          </p:cNvSpPr>
          <p:nvPr>
            <p:ph idx="1"/>
          </p:nvPr>
        </p:nvSpPr>
        <p:spPr/>
        <p:txBody>
          <a:bodyPr/>
          <a:lstStyle/>
          <a:p>
            <a:pPr marL="0" indent="0">
              <a:buNone/>
            </a:pPr>
            <a:r>
              <a:rPr lang="en-GB" dirty="0"/>
              <a:t>            </a:t>
            </a:r>
            <a:br>
              <a:rPr lang="en-GB" dirty="0"/>
            </a:br>
            <a:r>
              <a:rPr lang="en-GB" dirty="0"/>
              <a:t>              </a:t>
            </a:r>
            <a:r>
              <a:rPr dirty="0"/>
              <a:t>Capstone Project using Python</a:t>
            </a:r>
            <a:r>
              <a:rPr lang="en-GB" dirty="0"/>
              <a:t>,</a:t>
            </a:r>
            <a:br>
              <a:rPr lang="en-GB" dirty="0"/>
            </a:br>
            <a:r>
              <a:rPr dirty="0"/>
              <a:t> </a:t>
            </a:r>
            <a:r>
              <a:rPr lang="en-GB" dirty="0"/>
              <a:t>                       </a:t>
            </a:r>
            <a:r>
              <a:rPr dirty="0"/>
              <a:t>SQL &amp; Power BI</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1DC4852C-98C9-4EB0-B606-F23C1FC16CBF}"/>
                  </a:ext>
                </a:extLst>
              </p14:cNvPr>
              <p14:cNvContentPartPr/>
              <p14:nvPr/>
            </p14:nvContentPartPr>
            <p14:xfrm>
              <a:off x="-2105025" y="1114380"/>
              <a:ext cx="360" cy="360"/>
            </p14:xfrm>
          </p:contentPart>
        </mc:Choice>
        <mc:Fallback xmlns="">
          <p:pic>
            <p:nvPicPr>
              <p:cNvPr id="13" name="Ink 12">
                <a:extLst>
                  <a:ext uri="{FF2B5EF4-FFF2-40B4-BE49-F238E27FC236}">
                    <a16:creationId xmlns:a16="http://schemas.microsoft.com/office/drawing/2014/main" id="{1DC4852C-98C9-4EB0-B606-F23C1FC16CBF}"/>
                  </a:ext>
                </a:extLst>
              </p:cNvPr>
              <p:cNvPicPr/>
              <p:nvPr/>
            </p:nvPicPr>
            <p:blipFill>
              <a:blip r:embed="rId3"/>
              <a:stretch>
                <a:fillRect/>
              </a:stretch>
            </p:blipFill>
            <p:spPr>
              <a:xfrm>
                <a:off x="-2114025" y="11053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15339CF-EF07-44CA-89C0-A1E387F97019}"/>
                  </a:ext>
                </a:extLst>
              </p14:cNvPr>
              <p14:cNvContentPartPr/>
              <p14:nvPr/>
            </p14:nvContentPartPr>
            <p14:xfrm>
              <a:off x="1466700" y="2924100"/>
              <a:ext cx="360" cy="1800"/>
            </p14:xfrm>
          </p:contentPart>
        </mc:Choice>
        <mc:Fallback xmlns="">
          <p:pic>
            <p:nvPicPr>
              <p:cNvPr id="4" name="Ink 3">
                <a:extLst>
                  <a:ext uri="{FF2B5EF4-FFF2-40B4-BE49-F238E27FC236}">
                    <a16:creationId xmlns:a16="http://schemas.microsoft.com/office/drawing/2014/main" id="{115339CF-EF07-44CA-89C0-A1E387F97019}"/>
                  </a:ext>
                </a:extLst>
              </p:cNvPr>
              <p:cNvPicPr/>
              <p:nvPr/>
            </p:nvPicPr>
            <p:blipFill>
              <a:blip r:embed="rId5"/>
              <a:stretch>
                <a:fillRect/>
              </a:stretch>
            </p:blipFill>
            <p:spPr>
              <a:xfrm>
                <a:off x="1431060" y="2888460"/>
                <a:ext cx="72000" cy="734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Acknowledgement</a:t>
            </a:r>
          </a:p>
        </p:txBody>
      </p:sp>
      <p:sp>
        <p:nvSpPr>
          <p:cNvPr id="3" name="Content Placeholder 2"/>
          <p:cNvSpPr>
            <a:spLocks noGrp="1"/>
          </p:cNvSpPr>
          <p:nvPr>
            <p:ph idx="1"/>
          </p:nvPr>
        </p:nvSpPr>
        <p:spPr/>
        <p:txBody>
          <a:bodyPr>
            <a:normAutofit/>
          </a:bodyPr>
          <a:lstStyle/>
          <a:p>
            <a:pPr marL="0" indent="0">
              <a:buNone/>
            </a:pPr>
            <a:r>
              <a:rPr dirty="0"/>
              <a:t>I would like to express my sincere gratitude to my mentors, instructors, and learning platforms for their continuous guidance and support throughout this project. This capstone project is a result of practical learning and hands-on implementation using Python (Pandas, NumPy), SQL, and Power BI. I also thank the data analytics community and online resources that helped me understand data cleaning, SQL joins, KPI building, and dashboard creation. This project reflects my ability to convert raw data into meaningful insights using industry-relevant tools.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a:t>
            </a:r>
          </a:p>
        </p:txBody>
      </p:sp>
      <p:sp>
        <p:nvSpPr>
          <p:cNvPr id="3" name="Content Placeholder 2"/>
          <p:cNvSpPr>
            <a:spLocks noGrp="1"/>
          </p:cNvSpPr>
          <p:nvPr>
            <p:ph idx="1"/>
          </p:nvPr>
        </p:nvSpPr>
        <p:spPr/>
        <p:txBody>
          <a:bodyPr/>
          <a:lstStyle/>
          <a:p>
            <a:r>
              <a:rPr dirty="0"/>
              <a:t> Understand customer behavior</a:t>
            </a:r>
            <a:r>
              <a:rPr lang="en-GB" dirty="0"/>
              <a:t>  and</a:t>
            </a:r>
            <a:br>
              <a:rPr lang="en-GB" dirty="0"/>
            </a:br>
            <a:r>
              <a:rPr lang="en-GB" dirty="0"/>
              <a:t> </a:t>
            </a:r>
            <a:r>
              <a:rPr lang="en-IN" dirty="0" err="1"/>
              <a:t>Analyze</a:t>
            </a:r>
            <a:r>
              <a:rPr lang="en-IN" dirty="0"/>
              <a:t> </a:t>
            </a:r>
            <a:r>
              <a:rPr lang="en-GB" dirty="0"/>
              <a:t>Accounts</a:t>
            </a:r>
            <a:endParaRPr dirty="0"/>
          </a:p>
          <a:p>
            <a:r>
              <a:rPr dirty="0"/>
              <a:t> Analyze transactions</a:t>
            </a:r>
          </a:p>
          <a:p>
            <a:r>
              <a:rPr dirty="0"/>
              <a:t> Monitor loan performance</a:t>
            </a:r>
            <a:r>
              <a:rPr lang="en-GB" dirty="0"/>
              <a:t> and </a:t>
            </a:r>
            <a:br>
              <a:rPr lang="en-GB" dirty="0"/>
            </a:br>
            <a:r>
              <a:rPr lang="en-GB" dirty="0"/>
              <a:t> </a:t>
            </a:r>
            <a:r>
              <a:rPr lang="en-IN" dirty="0" err="1"/>
              <a:t>Analyze</a:t>
            </a:r>
            <a:r>
              <a:rPr lang="en-IN" dirty="0"/>
              <a:t> </a:t>
            </a:r>
            <a:r>
              <a:rPr lang="en-GB" dirty="0"/>
              <a:t>Complaints</a:t>
            </a:r>
            <a:endParaRPr dirty="0"/>
          </a:p>
          <a:p>
            <a:r>
              <a:rPr dirty="0"/>
              <a:t> Identify high-value customers</a:t>
            </a:r>
          </a:p>
          <a:p>
            <a:r>
              <a:rPr dirty="0"/>
              <a:t> Build end-to-end data analytics 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Workflow</a:t>
            </a:r>
          </a:p>
        </p:txBody>
      </p:sp>
      <p:sp>
        <p:nvSpPr>
          <p:cNvPr id="3" name="Content Placeholder 2"/>
          <p:cNvSpPr>
            <a:spLocks noGrp="1"/>
          </p:cNvSpPr>
          <p:nvPr>
            <p:ph idx="1"/>
          </p:nvPr>
        </p:nvSpPr>
        <p:spPr/>
        <p:txBody>
          <a:bodyPr/>
          <a:lstStyle/>
          <a:p>
            <a:r>
              <a:rPr dirty="0"/>
              <a:t>Step 1: Data Cleaning using Python (Pandas, NumPy)</a:t>
            </a:r>
          </a:p>
          <a:p>
            <a:r>
              <a:rPr dirty="0"/>
              <a:t>Step 2: Data Import &amp; Analysis in SQL (KPI, Joins, </a:t>
            </a:r>
            <a:r>
              <a:rPr lang="en-GB" dirty="0"/>
              <a:t>Group by </a:t>
            </a:r>
            <a:r>
              <a:rPr dirty="0"/>
              <a:t>)</a:t>
            </a:r>
          </a:p>
          <a:p>
            <a:r>
              <a:rPr dirty="0"/>
              <a:t>Step 3: Data Visualization in Power BI </a:t>
            </a:r>
            <a:br>
              <a:rPr lang="en-GB" dirty="0"/>
            </a:br>
            <a:r>
              <a:rPr dirty="0"/>
              <a:t>(</a:t>
            </a:r>
            <a:r>
              <a:rPr lang="en-GB" dirty="0"/>
              <a:t>Data Cleaning , Calculate Measures And Conditional Column , </a:t>
            </a:r>
            <a:r>
              <a:rPr dirty="0"/>
              <a:t>Dashboard Creation)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Data Cleaning (Python)</a:t>
            </a:r>
          </a:p>
        </p:txBody>
      </p:sp>
      <p:sp>
        <p:nvSpPr>
          <p:cNvPr id="3" name="Content Placeholder 2"/>
          <p:cNvSpPr>
            <a:spLocks noGrp="1"/>
          </p:cNvSpPr>
          <p:nvPr>
            <p:ph idx="1"/>
          </p:nvPr>
        </p:nvSpPr>
        <p:spPr/>
        <p:txBody>
          <a:bodyPr>
            <a:normAutofit fontScale="92500" lnSpcReduction="20000"/>
          </a:bodyPr>
          <a:lstStyle/>
          <a:p>
            <a:r>
              <a:t>In the first step, I used Python libraries Pandas and NumPy to clean the raw dataset.</a:t>
            </a:r>
          </a:p>
          <a:p>
            <a:endParaRPr/>
          </a:p>
          <a:p>
            <a:r>
              <a:t>• Handled missing values using fillna()</a:t>
            </a:r>
          </a:p>
          <a:p>
            <a:r>
              <a:t>• Removed duplicates using drop_duplicates()</a:t>
            </a:r>
          </a:p>
          <a:p>
            <a:r>
              <a:t>• Converted data types (date, numeric)</a:t>
            </a:r>
          </a:p>
          <a:p>
            <a:r>
              <a:t>• Standardized column formats</a:t>
            </a:r>
          </a:p>
          <a:p>
            <a:r>
              <a:t>• Ensured data consistency</a:t>
            </a:r>
          </a:p>
          <a:p>
            <a:endParaRPr/>
          </a:p>
          <a:p>
            <a:r>
              <a:t>This step ensures high-quality data before moving to SQL.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Python Data Cleaning Screenshot</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5" name="Picture 4">
            <a:extLst>
              <a:ext uri="{FF2B5EF4-FFF2-40B4-BE49-F238E27FC236}">
                <a16:creationId xmlns:a16="http://schemas.microsoft.com/office/drawing/2014/main" id="{10921466-5E2B-4806-9E19-1002615D68B8}"/>
              </a:ext>
            </a:extLst>
          </p:cNvPr>
          <p:cNvPicPr>
            <a:picLocks noChangeAspect="1"/>
          </p:cNvPicPr>
          <p:nvPr/>
        </p:nvPicPr>
        <p:blipFill>
          <a:blip r:embed="rId2"/>
          <a:stretch>
            <a:fillRect/>
          </a:stretch>
        </p:blipFill>
        <p:spPr>
          <a:xfrm>
            <a:off x="0" y="0"/>
            <a:ext cx="4000500" cy="3007395"/>
          </a:xfrm>
          <a:prstGeom prst="rect">
            <a:avLst/>
          </a:prstGeom>
        </p:spPr>
      </p:pic>
      <p:pic>
        <p:nvPicPr>
          <p:cNvPr id="7" name="Picture 6">
            <a:extLst>
              <a:ext uri="{FF2B5EF4-FFF2-40B4-BE49-F238E27FC236}">
                <a16:creationId xmlns:a16="http://schemas.microsoft.com/office/drawing/2014/main" id="{E13BEE1B-7497-42B8-936D-B28FDE4418F4}"/>
              </a:ext>
            </a:extLst>
          </p:cNvPr>
          <p:cNvPicPr>
            <a:picLocks noChangeAspect="1"/>
          </p:cNvPicPr>
          <p:nvPr/>
        </p:nvPicPr>
        <p:blipFill>
          <a:blip r:embed="rId3"/>
          <a:stretch>
            <a:fillRect/>
          </a:stretch>
        </p:blipFill>
        <p:spPr>
          <a:xfrm>
            <a:off x="4027034" y="29762"/>
            <a:ext cx="5090432" cy="3465913"/>
          </a:xfrm>
          <a:prstGeom prst="rect">
            <a:avLst/>
          </a:prstGeom>
        </p:spPr>
      </p:pic>
      <p:pic>
        <p:nvPicPr>
          <p:cNvPr id="11" name="Picture 10">
            <a:extLst>
              <a:ext uri="{FF2B5EF4-FFF2-40B4-BE49-F238E27FC236}">
                <a16:creationId xmlns:a16="http://schemas.microsoft.com/office/drawing/2014/main" id="{744CE1EC-19F7-433C-82BB-801056DFF8A8}"/>
              </a:ext>
            </a:extLst>
          </p:cNvPr>
          <p:cNvPicPr>
            <a:picLocks noChangeAspect="1"/>
          </p:cNvPicPr>
          <p:nvPr/>
        </p:nvPicPr>
        <p:blipFill>
          <a:blip r:embed="rId4"/>
          <a:stretch>
            <a:fillRect/>
          </a:stretch>
        </p:blipFill>
        <p:spPr>
          <a:xfrm>
            <a:off x="26534" y="3105149"/>
            <a:ext cx="3973966" cy="3716811"/>
          </a:xfrm>
          <a:prstGeom prst="rect">
            <a:avLst/>
          </a:prstGeom>
        </p:spPr>
      </p:pic>
      <p:pic>
        <p:nvPicPr>
          <p:cNvPr id="13" name="Picture 12">
            <a:extLst>
              <a:ext uri="{FF2B5EF4-FFF2-40B4-BE49-F238E27FC236}">
                <a16:creationId xmlns:a16="http://schemas.microsoft.com/office/drawing/2014/main" id="{8CB94DF0-7A9D-4D38-87BE-21BD90F78AC7}"/>
              </a:ext>
            </a:extLst>
          </p:cNvPr>
          <p:cNvPicPr>
            <a:picLocks noChangeAspect="1"/>
          </p:cNvPicPr>
          <p:nvPr/>
        </p:nvPicPr>
        <p:blipFill>
          <a:blip r:embed="rId5"/>
          <a:stretch>
            <a:fillRect/>
          </a:stretch>
        </p:blipFill>
        <p:spPr>
          <a:xfrm>
            <a:off x="4053568" y="3525437"/>
            <a:ext cx="5063898" cy="33227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SQL Analysis &amp; KPI</a:t>
            </a:r>
          </a:p>
        </p:txBody>
      </p:sp>
      <p:sp>
        <p:nvSpPr>
          <p:cNvPr id="3" name="Content Placeholder 2"/>
          <p:cNvSpPr>
            <a:spLocks noGrp="1"/>
          </p:cNvSpPr>
          <p:nvPr>
            <p:ph idx="1"/>
          </p:nvPr>
        </p:nvSpPr>
        <p:spPr/>
        <p:txBody>
          <a:bodyPr>
            <a:normAutofit fontScale="92500" lnSpcReduction="20000"/>
          </a:bodyPr>
          <a:lstStyle/>
          <a:p>
            <a:r>
              <a:rPr dirty="0"/>
              <a:t>After cleaning, the data was imported into SQL for analysis.</a:t>
            </a:r>
          </a:p>
          <a:p>
            <a:endParaRPr dirty="0"/>
          </a:p>
          <a:p>
            <a:r>
              <a:rPr dirty="0"/>
              <a:t>• Created tables </a:t>
            </a:r>
            <a:r>
              <a:rPr lang="en-GB" dirty="0"/>
              <a:t>- </a:t>
            </a:r>
            <a:r>
              <a:rPr dirty="0"/>
              <a:t>Customer</a:t>
            </a:r>
            <a:r>
              <a:rPr lang="en-GB" dirty="0"/>
              <a:t>s</a:t>
            </a:r>
            <a:r>
              <a:rPr dirty="0"/>
              <a:t>, Account</a:t>
            </a:r>
            <a:r>
              <a:rPr lang="en-GB"/>
              <a:t>s</a:t>
            </a:r>
            <a:r>
              <a:t>, </a:t>
            </a:r>
            <a:r>
              <a:rPr dirty="0"/>
              <a:t>Transaction, Loan, </a:t>
            </a:r>
            <a:r>
              <a:rPr lang="en-GB" dirty="0"/>
              <a:t>Loan_</a:t>
            </a:r>
            <a:r>
              <a:rPr dirty="0"/>
              <a:t>Payment, Complaints</a:t>
            </a:r>
          </a:p>
          <a:p>
            <a:r>
              <a:rPr dirty="0"/>
              <a:t>• Used JOIN to combine multiple tables</a:t>
            </a:r>
          </a:p>
          <a:p>
            <a:r>
              <a:rPr dirty="0"/>
              <a:t>• Applied GROUP BY for aggregation</a:t>
            </a:r>
          </a:p>
          <a:p>
            <a:r>
              <a:rPr dirty="0"/>
              <a:t>• Created KPIs like total transactions, loan amount, complaints count</a:t>
            </a:r>
            <a:r>
              <a:rPr lang="en-GB" dirty="0"/>
              <a:t> etc.</a:t>
            </a:r>
            <a:endParaRPr dirty="0"/>
          </a:p>
          <a:p>
            <a:endParaRPr dirty="0"/>
          </a:p>
          <a:p>
            <a:r>
              <a:rPr dirty="0"/>
              <a:t>SQL helped in building a strong analytical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pic>
        <p:nvPicPr>
          <p:cNvPr id="5" name="Picture 4">
            <a:extLst>
              <a:ext uri="{FF2B5EF4-FFF2-40B4-BE49-F238E27FC236}">
                <a16:creationId xmlns:a16="http://schemas.microsoft.com/office/drawing/2014/main" id="{A52876AF-1351-4E37-82F0-30569F13CC4D}"/>
              </a:ext>
            </a:extLst>
          </p:cNvPr>
          <p:cNvPicPr>
            <a:picLocks noChangeAspect="1"/>
          </p:cNvPicPr>
          <p:nvPr/>
        </p:nvPicPr>
        <p:blipFill>
          <a:blip r:embed="rId2"/>
          <a:stretch>
            <a:fillRect/>
          </a:stretch>
        </p:blipFill>
        <p:spPr>
          <a:xfrm>
            <a:off x="5849005" y="-118064"/>
            <a:ext cx="3086438" cy="2909745"/>
          </a:xfrm>
          <a:prstGeom prst="rect">
            <a:avLst/>
          </a:prstGeom>
        </p:spPr>
      </p:pic>
      <p:pic>
        <p:nvPicPr>
          <p:cNvPr id="7" name="Picture 6">
            <a:extLst>
              <a:ext uri="{FF2B5EF4-FFF2-40B4-BE49-F238E27FC236}">
                <a16:creationId xmlns:a16="http://schemas.microsoft.com/office/drawing/2014/main" id="{921A83E4-91B1-4898-B97E-B43608BD9FA9}"/>
              </a:ext>
            </a:extLst>
          </p:cNvPr>
          <p:cNvPicPr>
            <a:picLocks noChangeAspect="1"/>
          </p:cNvPicPr>
          <p:nvPr/>
        </p:nvPicPr>
        <p:blipFill>
          <a:blip r:embed="rId3"/>
          <a:stretch>
            <a:fillRect/>
          </a:stretch>
        </p:blipFill>
        <p:spPr>
          <a:xfrm>
            <a:off x="0" y="43594"/>
            <a:ext cx="2524463" cy="2748087"/>
          </a:xfrm>
          <a:prstGeom prst="rect">
            <a:avLst/>
          </a:prstGeom>
        </p:spPr>
      </p:pic>
      <p:pic>
        <p:nvPicPr>
          <p:cNvPr id="9" name="Picture 8">
            <a:extLst>
              <a:ext uri="{FF2B5EF4-FFF2-40B4-BE49-F238E27FC236}">
                <a16:creationId xmlns:a16="http://schemas.microsoft.com/office/drawing/2014/main" id="{F0F21094-B211-4327-ADF8-406F867AFA3A}"/>
              </a:ext>
            </a:extLst>
          </p:cNvPr>
          <p:cNvPicPr>
            <a:picLocks noChangeAspect="1"/>
          </p:cNvPicPr>
          <p:nvPr/>
        </p:nvPicPr>
        <p:blipFill>
          <a:blip r:embed="rId4"/>
          <a:stretch>
            <a:fillRect/>
          </a:stretch>
        </p:blipFill>
        <p:spPr>
          <a:xfrm>
            <a:off x="2524463" y="-70150"/>
            <a:ext cx="3324542" cy="3023489"/>
          </a:xfrm>
          <a:prstGeom prst="rect">
            <a:avLst/>
          </a:prstGeom>
        </p:spPr>
      </p:pic>
      <p:pic>
        <p:nvPicPr>
          <p:cNvPr id="11" name="Picture 10">
            <a:extLst>
              <a:ext uri="{FF2B5EF4-FFF2-40B4-BE49-F238E27FC236}">
                <a16:creationId xmlns:a16="http://schemas.microsoft.com/office/drawing/2014/main" id="{AF2F9CF3-E11B-488B-8977-72D819C36169}"/>
              </a:ext>
            </a:extLst>
          </p:cNvPr>
          <p:cNvPicPr>
            <a:picLocks noChangeAspect="1"/>
          </p:cNvPicPr>
          <p:nvPr/>
        </p:nvPicPr>
        <p:blipFill>
          <a:blip r:embed="rId5"/>
          <a:stretch>
            <a:fillRect/>
          </a:stretch>
        </p:blipFill>
        <p:spPr>
          <a:xfrm>
            <a:off x="-1" y="3062402"/>
            <a:ext cx="2524463" cy="3419225"/>
          </a:xfrm>
          <a:prstGeom prst="rect">
            <a:avLst/>
          </a:prstGeom>
        </p:spPr>
      </p:pic>
      <p:pic>
        <p:nvPicPr>
          <p:cNvPr id="13" name="Picture 12">
            <a:extLst>
              <a:ext uri="{FF2B5EF4-FFF2-40B4-BE49-F238E27FC236}">
                <a16:creationId xmlns:a16="http://schemas.microsoft.com/office/drawing/2014/main" id="{1B53658F-5732-42CE-B480-C6A85C3608D6}"/>
              </a:ext>
            </a:extLst>
          </p:cNvPr>
          <p:cNvPicPr>
            <a:picLocks noChangeAspect="1"/>
          </p:cNvPicPr>
          <p:nvPr/>
        </p:nvPicPr>
        <p:blipFill>
          <a:blip r:embed="rId6"/>
          <a:stretch>
            <a:fillRect/>
          </a:stretch>
        </p:blipFill>
        <p:spPr>
          <a:xfrm>
            <a:off x="5729953" y="3001253"/>
            <a:ext cx="3086438" cy="3451758"/>
          </a:xfrm>
          <a:prstGeom prst="rect">
            <a:avLst/>
          </a:prstGeom>
        </p:spPr>
      </p:pic>
      <p:pic>
        <p:nvPicPr>
          <p:cNvPr id="15" name="Picture 14">
            <a:extLst>
              <a:ext uri="{FF2B5EF4-FFF2-40B4-BE49-F238E27FC236}">
                <a16:creationId xmlns:a16="http://schemas.microsoft.com/office/drawing/2014/main" id="{A5A6CBBE-B6FA-412E-A36B-BDFDF44C4984}"/>
              </a:ext>
            </a:extLst>
          </p:cNvPr>
          <p:cNvPicPr>
            <a:picLocks noChangeAspect="1"/>
          </p:cNvPicPr>
          <p:nvPr/>
        </p:nvPicPr>
        <p:blipFill>
          <a:blip r:embed="rId7"/>
          <a:stretch>
            <a:fillRect/>
          </a:stretch>
        </p:blipFill>
        <p:spPr>
          <a:xfrm>
            <a:off x="2419350" y="2900744"/>
            <a:ext cx="3186281" cy="36826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3: Power BI Dashboard</a:t>
            </a:r>
          </a:p>
        </p:txBody>
      </p:sp>
      <p:sp>
        <p:nvSpPr>
          <p:cNvPr id="3" name="Content Placeholder 2"/>
          <p:cNvSpPr>
            <a:spLocks noGrp="1"/>
          </p:cNvSpPr>
          <p:nvPr>
            <p:ph idx="1"/>
          </p:nvPr>
        </p:nvSpPr>
        <p:spPr/>
        <p:txBody>
          <a:bodyPr>
            <a:normAutofit fontScale="92500"/>
          </a:bodyPr>
          <a:lstStyle/>
          <a:p>
            <a:r>
              <a:t>Data was then loaded into Power BI for visualization.</a:t>
            </a:r>
          </a:p>
          <a:p>
            <a:endParaRPr/>
          </a:p>
          <a:p>
            <a:r>
              <a:t>• Performed additional data cleaning in Power Query</a:t>
            </a:r>
          </a:p>
          <a:p>
            <a:r>
              <a:t>• Created relationships (joins) between tables</a:t>
            </a:r>
          </a:p>
          <a:p>
            <a:r>
              <a:t>• Used Merge &amp; Append operations</a:t>
            </a:r>
          </a:p>
          <a:p>
            <a:r>
              <a:t>• Created calculated columns and DAX measures</a:t>
            </a:r>
          </a:p>
          <a:p>
            <a:r>
              <a:t>• Built KPIs and interactive charts</a:t>
            </a:r>
          </a:p>
          <a:p>
            <a:endParaRPr/>
          </a:p>
          <a:p>
            <a:r>
              <a:t>This step transforms data into business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23875"/>
            <a:ext cx="6449700" cy="847725"/>
          </a:xfrm>
        </p:spPr>
        <p:txBody>
          <a:bodyPr>
            <a:normAutofit fontScale="90000"/>
          </a:bodyPr>
          <a:lstStyle/>
          <a:p>
            <a:r>
              <a:rPr dirty="0"/>
              <a:t>Power BI Data Model </a:t>
            </a:r>
            <a:br>
              <a:rPr lang="en-GB" dirty="0"/>
            </a:br>
            <a:r>
              <a:rPr dirty="0"/>
              <a:t> </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5" name="Picture 4">
            <a:extLst>
              <a:ext uri="{FF2B5EF4-FFF2-40B4-BE49-F238E27FC236}">
                <a16:creationId xmlns:a16="http://schemas.microsoft.com/office/drawing/2014/main" id="{CE5431B7-359C-4017-A640-93604F515BCD}"/>
              </a:ext>
            </a:extLst>
          </p:cNvPr>
          <p:cNvPicPr>
            <a:picLocks noChangeAspect="1"/>
          </p:cNvPicPr>
          <p:nvPr/>
        </p:nvPicPr>
        <p:blipFill>
          <a:blip r:embed="rId2"/>
          <a:stretch>
            <a:fillRect/>
          </a:stretch>
        </p:blipFill>
        <p:spPr>
          <a:xfrm>
            <a:off x="0" y="1209675"/>
            <a:ext cx="9144000" cy="6000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BI Dashboards</a:t>
            </a:r>
          </a:p>
        </p:txBody>
      </p:sp>
      <p:sp>
        <p:nvSpPr>
          <p:cNvPr id="3" name="Content Placeholder 2"/>
          <p:cNvSpPr>
            <a:spLocks noGrp="1"/>
          </p:cNvSpPr>
          <p:nvPr>
            <p:ph idx="1"/>
          </p:nvPr>
        </p:nvSpPr>
        <p:spPr/>
        <p:txBody>
          <a:bodyPr/>
          <a:lstStyle/>
          <a:p>
            <a:r>
              <a:t>Developed 5 dashboards:</a:t>
            </a:r>
          </a:p>
          <a:p>
            <a:r>
              <a:t>1. Customer Overview</a:t>
            </a:r>
          </a:p>
          <a:p>
            <a:r>
              <a:t>2. Accounts Analysis</a:t>
            </a:r>
          </a:p>
          <a:p>
            <a:r>
              <a:t>3. Transaction Analysis</a:t>
            </a:r>
          </a:p>
          <a:p>
            <a:r>
              <a:t>4. Loan &amp; Loan Payment Analysis</a:t>
            </a:r>
          </a:p>
          <a:p>
            <a:r>
              <a:t>5. Complaints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Customer Overview Dashboard</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5" name="Picture 4">
            <a:extLst>
              <a:ext uri="{FF2B5EF4-FFF2-40B4-BE49-F238E27FC236}">
                <a16:creationId xmlns:a16="http://schemas.microsoft.com/office/drawing/2014/main" id="{03417D52-62FC-4DB3-B592-2F9DDAF2FEDA}"/>
              </a:ext>
            </a:extLst>
          </p:cNvPr>
          <p:cNvPicPr>
            <a:picLocks noChangeAspect="1"/>
          </p:cNvPicPr>
          <p:nvPr/>
        </p:nvPicPr>
        <p:blipFill>
          <a:blip r:embed="rId2"/>
          <a:stretch>
            <a:fillRect/>
          </a:stretch>
        </p:blipFill>
        <p:spPr>
          <a:xfrm>
            <a:off x="0" y="274638"/>
            <a:ext cx="9144000" cy="62118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Accounts Analysis Dashboard</a:t>
            </a:r>
          </a:p>
        </p:txBody>
      </p:sp>
      <p:pic>
        <p:nvPicPr>
          <p:cNvPr id="7" name="Picture 6">
            <a:extLst>
              <a:ext uri="{FF2B5EF4-FFF2-40B4-BE49-F238E27FC236}">
                <a16:creationId xmlns:a16="http://schemas.microsoft.com/office/drawing/2014/main" id="{F3FB7D34-BFE4-4795-BEE4-9E38CC58A263}"/>
              </a:ext>
            </a:extLst>
          </p:cNvPr>
          <p:cNvPicPr>
            <a:picLocks noChangeAspect="1"/>
          </p:cNvPicPr>
          <p:nvPr/>
        </p:nvPicPr>
        <p:blipFill>
          <a:blip r:embed="rId2"/>
          <a:stretch>
            <a:fillRect/>
          </a:stretch>
        </p:blipFill>
        <p:spPr>
          <a:xfrm>
            <a:off x="0" y="274638"/>
            <a:ext cx="9144000" cy="59928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Transaction Analysis Dashboard</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5" name="Picture 4">
            <a:extLst>
              <a:ext uri="{FF2B5EF4-FFF2-40B4-BE49-F238E27FC236}">
                <a16:creationId xmlns:a16="http://schemas.microsoft.com/office/drawing/2014/main" id="{C40BC069-1844-415E-B5CE-11DE85FB4B0F}"/>
              </a:ext>
            </a:extLst>
          </p:cNvPr>
          <p:cNvPicPr>
            <a:picLocks noChangeAspect="1"/>
          </p:cNvPicPr>
          <p:nvPr/>
        </p:nvPicPr>
        <p:blipFill>
          <a:blip r:embed="rId2"/>
          <a:stretch>
            <a:fillRect/>
          </a:stretch>
        </p:blipFill>
        <p:spPr>
          <a:xfrm>
            <a:off x="0" y="274637"/>
            <a:ext cx="9144000" cy="59166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Loan &amp; Loan Payment Dashboard</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5" name="Picture 4">
            <a:extLst>
              <a:ext uri="{FF2B5EF4-FFF2-40B4-BE49-F238E27FC236}">
                <a16:creationId xmlns:a16="http://schemas.microsoft.com/office/drawing/2014/main" id="{4BFBC200-8396-44C1-B8CD-393B99092B3C}"/>
              </a:ext>
            </a:extLst>
          </p:cNvPr>
          <p:cNvPicPr>
            <a:picLocks noChangeAspect="1"/>
          </p:cNvPicPr>
          <p:nvPr/>
        </p:nvPicPr>
        <p:blipFill>
          <a:blip r:embed="rId2"/>
          <a:stretch>
            <a:fillRect/>
          </a:stretch>
        </p:blipFill>
        <p:spPr>
          <a:xfrm>
            <a:off x="0" y="274638"/>
            <a:ext cx="9144000" cy="58404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Complaints Dashboard</a:t>
            </a:r>
          </a:p>
        </p:txBody>
      </p:sp>
      <p:sp>
        <p:nvSpPr>
          <p:cNvPr id="3" name="TextBox 2"/>
          <p:cNvSpPr txBox="1"/>
          <p:nvPr/>
        </p:nvSpPr>
        <p:spPr>
          <a:xfrm>
            <a:off x="914400" y="1371600"/>
            <a:ext cx="7315200" cy="4114800"/>
          </a:xfrm>
          <a:prstGeom prst="rect">
            <a:avLst/>
          </a:prstGeom>
          <a:noFill/>
        </p:spPr>
        <p:txBody>
          <a:bodyPr wrap="none">
            <a:spAutoFit/>
          </a:bodyPr>
          <a:lstStyle/>
          <a:p>
            <a:r>
              <a:t>Insert Screenshot Here</a:t>
            </a:r>
          </a:p>
        </p:txBody>
      </p:sp>
      <p:pic>
        <p:nvPicPr>
          <p:cNvPr id="6" name="Picture 5">
            <a:extLst>
              <a:ext uri="{FF2B5EF4-FFF2-40B4-BE49-F238E27FC236}">
                <a16:creationId xmlns:a16="http://schemas.microsoft.com/office/drawing/2014/main" id="{DB58D5FD-2A17-4AD2-85A8-01DED9F07F95}"/>
              </a:ext>
            </a:extLst>
          </p:cNvPr>
          <p:cNvPicPr>
            <a:picLocks noChangeAspect="1"/>
          </p:cNvPicPr>
          <p:nvPr/>
        </p:nvPicPr>
        <p:blipFill>
          <a:blip r:embed="rId2"/>
          <a:stretch>
            <a:fillRect/>
          </a:stretch>
        </p:blipFill>
        <p:spPr>
          <a:xfrm>
            <a:off x="0" y="314326"/>
            <a:ext cx="9144000" cy="5829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normAutofit/>
          </a:bodyPr>
          <a:lstStyle/>
          <a:p>
            <a:r>
              <a:rPr dirty="0"/>
              <a:t>• Identified high-value customers based on transactions</a:t>
            </a:r>
          </a:p>
          <a:p>
            <a:r>
              <a:rPr dirty="0"/>
              <a:t>• Analyzed loan distribution and repayment trends</a:t>
            </a:r>
          </a:p>
          <a:p>
            <a:r>
              <a:rPr dirty="0"/>
              <a:t>• Observed transaction growth and payment modes</a:t>
            </a:r>
          </a:p>
          <a:p>
            <a:r>
              <a:rPr dirty="0"/>
              <a:t>• Monitored complaint trends and resolution status</a:t>
            </a:r>
          </a:p>
          <a:p>
            <a:r>
              <a:rPr dirty="0"/>
              <a:t>• Improved understanding of customer behavior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pic>
        <p:nvPicPr>
          <p:cNvPr id="5" name="Picture 4">
            <a:extLst>
              <a:ext uri="{FF2B5EF4-FFF2-40B4-BE49-F238E27FC236}">
                <a16:creationId xmlns:a16="http://schemas.microsoft.com/office/drawing/2014/main" id="{F17F7799-1776-45BE-B6B0-2AF399DFE4CF}"/>
              </a:ext>
            </a:extLst>
          </p:cNvPr>
          <p:cNvPicPr>
            <a:picLocks noChangeAspect="1"/>
          </p:cNvPicPr>
          <p:nvPr/>
        </p:nvPicPr>
        <p:blipFill>
          <a:blip r:embed="rId2"/>
          <a:stretch>
            <a:fillRect/>
          </a:stretch>
        </p:blipFill>
        <p:spPr>
          <a:xfrm>
            <a:off x="0" y="95137"/>
            <a:ext cx="3225334" cy="3025135"/>
          </a:xfrm>
          <a:prstGeom prst="rect">
            <a:avLst/>
          </a:prstGeom>
        </p:spPr>
      </p:pic>
      <p:pic>
        <p:nvPicPr>
          <p:cNvPr id="7" name="Picture 6">
            <a:extLst>
              <a:ext uri="{FF2B5EF4-FFF2-40B4-BE49-F238E27FC236}">
                <a16:creationId xmlns:a16="http://schemas.microsoft.com/office/drawing/2014/main" id="{8EC2BD90-86EF-4B2D-BC8B-A7B0F87B9945}"/>
              </a:ext>
            </a:extLst>
          </p:cNvPr>
          <p:cNvPicPr>
            <a:picLocks noChangeAspect="1"/>
          </p:cNvPicPr>
          <p:nvPr/>
        </p:nvPicPr>
        <p:blipFill>
          <a:blip r:embed="rId3"/>
          <a:stretch>
            <a:fillRect/>
          </a:stretch>
        </p:blipFill>
        <p:spPr>
          <a:xfrm>
            <a:off x="3225334" y="205105"/>
            <a:ext cx="2812335" cy="2915167"/>
          </a:xfrm>
          <a:prstGeom prst="rect">
            <a:avLst/>
          </a:prstGeom>
        </p:spPr>
      </p:pic>
      <p:pic>
        <p:nvPicPr>
          <p:cNvPr id="9" name="Picture 8">
            <a:extLst>
              <a:ext uri="{FF2B5EF4-FFF2-40B4-BE49-F238E27FC236}">
                <a16:creationId xmlns:a16="http://schemas.microsoft.com/office/drawing/2014/main" id="{A337FF17-B245-429D-BC83-78C1D9B5D5C3}"/>
              </a:ext>
            </a:extLst>
          </p:cNvPr>
          <p:cNvPicPr>
            <a:picLocks noChangeAspect="1"/>
          </p:cNvPicPr>
          <p:nvPr/>
        </p:nvPicPr>
        <p:blipFill>
          <a:blip r:embed="rId4"/>
          <a:stretch>
            <a:fillRect/>
          </a:stretch>
        </p:blipFill>
        <p:spPr>
          <a:xfrm>
            <a:off x="6129598" y="159067"/>
            <a:ext cx="2557202" cy="2915167"/>
          </a:xfrm>
          <a:prstGeom prst="rect">
            <a:avLst/>
          </a:prstGeom>
        </p:spPr>
      </p:pic>
      <p:pic>
        <p:nvPicPr>
          <p:cNvPr id="11" name="Picture 10">
            <a:extLst>
              <a:ext uri="{FF2B5EF4-FFF2-40B4-BE49-F238E27FC236}">
                <a16:creationId xmlns:a16="http://schemas.microsoft.com/office/drawing/2014/main" id="{2DD94719-E781-4C0E-8BF4-5A3319CADFA9}"/>
              </a:ext>
            </a:extLst>
          </p:cNvPr>
          <p:cNvPicPr>
            <a:picLocks noChangeAspect="1"/>
          </p:cNvPicPr>
          <p:nvPr/>
        </p:nvPicPr>
        <p:blipFill>
          <a:blip r:embed="rId5"/>
          <a:stretch>
            <a:fillRect/>
          </a:stretch>
        </p:blipFill>
        <p:spPr>
          <a:xfrm>
            <a:off x="0" y="3299472"/>
            <a:ext cx="3319008" cy="3283889"/>
          </a:xfrm>
          <a:prstGeom prst="rect">
            <a:avLst/>
          </a:prstGeom>
        </p:spPr>
      </p:pic>
      <p:pic>
        <p:nvPicPr>
          <p:cNvPr id="13" name="Picture 12">
            <a:extLst>
              <a:ext uri="{FF2B5EF4-FFF2-40B4-BE49-F238E27FC236}">
                <a16:creationId xmlns:a16="http://schemas.microsoft.com/office/drawing/2014/main" id="{84243EF5-8DFC-4CE4-A84E-65B4E82B0364}"/>
              </a:ext>
            </a:extLst>
          </p:cNvPr>
          <p:cNvPicPr>
            <a:picLocks noChangeAspect="1"/>
          </p:cNvPicPr>
          <p:nvPr/>
        </p:nvPicPr>
        <p:blipFill>
          <a:blip r:embed="rId6"/>
          <a:stretch>
            <a:fillRect/>
          </a:stretch>
        </p:blipFill>
        <p:spPr>
          <a:xfrm>
            <a:off x="3337698" y="3429000"/>
            <a:ext cx="2791900" cy="3223895"/>
          </a:xfrm>
          <a:prstGeom prst="rect">
            <a:avLst/>
          </a:prstGeom>
        </p:spPr>
      </p:pic>
      <p:pic>
        <p:nvPicPr>
          <p:cNvPr id="15" name="Picture 14">
            <a:extLst>
              <a:ext uri="{FF2B5EF4-FFF2-40B4-BE49-F238E27FC236}">
                <a16:creationId xmlns:a16="http://schemas.microsoft.com/office/drawing/2014/main" id="{0B5524A5-0BD4-4F91-8323-6100D87A5BE8}"/>
              </a:ext>
            </a:extLst>
          </p:cNvPr>
          <p:cNvPicPr>
            <a:picLocks noChangeAspect="1"/>
          </p:cNvPicPr>
          <p:nvPr/>
        </p:nvPicPr>
        <p:blipFill>
          <a:blip r:embed="rId7"/>
          <a:stretch>
            <a:fillRect/>
          </a:stretch>
        </p:blipFill>
        <p:spPr>
          <a:xfrm>
            <a:off x="6148288" y="3299471"/>
            <a:ext cx="2557202" cy="31390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 / Scope</a:t>
            </a:r>
          </a:p>
        </p:txBody>
      </p:sp>
      <p:sp>
        <p:nvSpPr>
          <p:cNvPr id="3" name="Content Placeholder 2"/>
          <p:cNvSpPr>
            <a:spLocks noGrp="1"/>
          </p:cNvSpPr>
          <p:nvPr>
            <p:ph idx="1"/>
          </p:nvPr>
        </p:nvSpPr>
        <p:spPr/>
        <p:txBody>
          <a:bodyPr/>
          <a:lstStyle/>
          <a:p>
            <a:r>
              <a:t>• Customer segmentation using RFM</a:t>
            </a:r>
          </a:p>
          <a:p>
            <a:r>
              <a:t>• Predictive analysis for loan default</a:t>
            </a:r>
          </a:p>
          <a:p>
            <a:r>
              <a:t>• Automation using Python pipelines</a:t>
            </a:r>
          </a:p>
          <a:p>
            <a:r>
              <a:t>• Real-time dashboard integration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 Synthetic Banking Dataset</a:t>
            </a:r>
          </a:p>
          <a:p>
            <a:r>
              <a:t>• Python (Pandas, NumPy)</a:t>
            </a:r>
          </a:p>
          <a:p>
            <a:r>
              <a:t>• SQL Documentation</a:t>
            </a:r>
          </a:p>
          <a:p>
            <a:r>
              <a:t>• Power BI Documentation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0D07-3F76-4464-B9C6-1CB6884E1075}"/>
              </a:ext>
            </a:extLst>
          </p:cNvPr>
          <p:cNvSpPr>
            <a:spLocks noGrp="1"/>
          </p:cNvSpPr>
          <p:nvPr>
            <p:ph type="title"/>
          </p:nvPr>
        </p:nvSpPr>
        <p:spPr>
          <a:xfrm>
            <a:off x="864382" y="626142"/>
            <a:ext cx="6343672" cy="709865"/>
          </a:xfrm>
        </p:spPr>
        <p:txBody>
          <a:bodyPr/>
          <a:lstStyle/>
          <a:p>
            <a:r>
              <a:rPr lang="en-GB" dirty="0"/>
              <a:t>                 </a:t>
            </a:r>
            <a:br>
              <a:rPr lang="en-GB" dirty="0"/>
            </a:br>
            <a:br>
              <a:rPr lang="en-GB" dirty="0"/>
            </a:br>
            <a:br>
              <a:rPr lang="en-GB" dirty="0"/>
            </a:br>
            <a:br>
              <a:rPr lang="en-GB" dirty="0"/>
            </a:br>
            <a:br>
              <a:rPr lang="en-GB" dirty="0"/>
            </a:br>
            <a:br>
              <a:rPr lang="en-GB" dirty="0"/>
            </a:br>
            <a:br>
              <a:rPr lang="en-GB" dirty="0"/>
            </a:br>
            <a:br>
              <a:rPr lang="en-GB" dirty="0"/>
            </a:br>
            <a:br>
              <a:rPr lang="en-GB" dirty="0"/>
            </a:br>
            <a:r>
              <a:rPr lang="en-GB" dirty="0"/>
              <a:t>                    </a:t>
            </a:r>
            <a:r>
              <a:rPr lang="en-GB" dirty="0">
                <a:solidFill>
                  <a:schemeClr val="tx1">
                    <a:lumMod val="85000"/>
                    <a:lumOff val="15000"/>
                  </a:schemeClr>
                </a:solidFill>
              </a:rPr>
              <a:t>Thank</a:t>
            </a:r>
            <a:r>
              <a:rPr lang="en-GB" dirty="0"/>
              <a:t> </a:t>
            </a:r>
            <a:r>
              <a:rPr lang="en-GB" dirty="0">
                <a:solidFill>
                  <a:schemeClr val="tx1">
                    <a:lumMod val="85000"/>
                    <a:lumOff val="15000"/>
                  </a:schemeClr>
                </a:solidFill>
              </a:rPr>
              <a:t>You</a:t>
            </a:r>
            <a:endParaRPr lang="en-IN"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CDFDAD34-8134-420E-81AF-258C8CF93F64}"/>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                                 </a:t>
            </a:r>
            <a:endParaRPr lang="en-IN" dirty="0"/>
          </a:p>
        </p:txBody>
      </p:sp>
    </p:spTree>
    <p:extLst>
      <p:ext uri="{BB962C8B-B14F-4D97-AF65-F5344CB8AC3E}">
        <p14:creationId xmlns:p14="http://schemas.microsoft.com/office/powerpoint/2010/main" val="3656723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550</TotalTime>
  <Words>571</Words>
  <Application>Microsoft Office PowerPoint</Application>
  <PresentationFormat>On-screen Show (4:3)</PresentationFormat>
  <Paragraphs>83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 Gothic</vt:lpstr>
      <vt:lpstr>Wingdings 3</vt:lpstr>
      <vt:lpstr>Ion Boardroom</vt:lpstr>
      <vt:lpstr>Banking Customer Behavior and Financial Performance Analysis</vt:lpstr>
      <vt:lpstr>Acknowledgement</vt:lpstr>
      <vt:lpstr>Project Objective</vt:lpstr>
      <vt:lpstr>Project Workflow</vt:lpstr>
      <vt:lpstr>Step 1: Data Cleaning (Python)</vt:lpstr>
      <vt:lpstr>Python Data Cleaning Screenshot</vt:lpstr>
      <vt:lpstr>Step 2: SQL Analysis &amp; KPI</vt:lpstr>
      <vt:lpstr>PowerPoint Presentation</vt:lpstr>
      <vt:lpstr>Step 3: Power BI Dashboard</vt:lpstr>
      <vt:lpstr>Power BI Data Model   </vt:lpstr>
      <vt:lpstr>Power BI Dashboards</vt:lpstr>
      <vt:lpstr>Customer Overview Dashboard</vt:lpstr>
      <vt:lpstr>Accounts Analysis Dashboard</vt:lpstr>
      <vt:lpstr>Transaction Analysis Dashboard</vt:lpstr>
      <vt:lpstr>Loan &amp; Loan Payment Dashboard</vt:lpstr>
      <vt:lpstr>Complaints Dashboard</vt:lpstr>
      <vt:lpstr>Key Insights</vt:lpstr>
      <vt:lpstr>PowerPoint Presentation</vt:lpstr>
      <vt:lpstr>Future Work / Scope</vt:lpstr>
      <vt:lpstr>References</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Customer Behavior and Financial Performance Analysis</dc:title>
  <dc:subject/>
  <dc:creator>HP</dc:creator>
  <cp:keywords/>
  <dc:description>generated using python-pptx</dc:description>
  <cp:lastModifiedBy>HARDIK</cp:lastModifiedBy>
  <cp:revision>9</cp:revision>
  <dcterms:created xsi:type="dcterms:W3CDTF">2013-01-27T09:14:16Z</dcterms:created>
  <dcterms:modified xsi:type="dcterms:W3CDTF">2026-04-09T16:09:46Z</dcterms:modified>
  <cp:category/>
</cp:coreProperties>
</file>